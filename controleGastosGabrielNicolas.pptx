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1F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0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6893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F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8E6080">
              <a:alpha val="40000"/>
            </a:srgbClr>
          </a:solidFill>
          <a:ln w="12700">
            <a:solidFill>
              <a:srgbClr val="8E60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731520" y="3657600"/>
            <a:ext cx="2286000" cy="2286000"/>
          </a:xfrm>
          <a:prstGeom prst="ellipse">
            <a:avLst/>
          </a:prstGeom>
          <a:solidFill>
            <a:srgbClr val="8E6080">
              <a:alpha val="30000"/>
            </a:srgbClr>
          </a:solidFill>
          <a:ln w="12700">
            <a:solidFill>
              <a:srgbClr val="8E60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331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Controle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Gastos Pessoais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Full Stack 5.0  ·  Gabriel Daudt, Nicolas Moreira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5720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1887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Registrar, organizar, analisar e consultar dados de gastos pessoais de forma eficiente ao longo do tempo.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48640" y="25146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5EDF3"/>
          </a:solidFill>
          <a:ln w="12700">
            <a:solidFill>
              <a:srgbClr val="C9AAB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79192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31729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dos Dados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40080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conclusões extraídas do banco</a:t>
            </a:r>
            <a:endParaRPr lang="en-US" sz="1100" b="1" dirty="0">
              <a:solidFill>
                <a:srgbClr val="2D1F29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3383280" y="25146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5EDF3"/>
          </a:solidFill>
          <a:ln w="12700">
            <a:solidFill>
              <a:srgbClr val="C9AAB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679192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74720" y="31729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3474720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técnico com SQL</a:t>
            </a:r>
            <a:endParaRPr lang="en-US" sz="1100" b="1" dirty="0">
              <a:solidFill>
                <a:srgbClr val="2D1F29"/>
              </a:solidFill>
            </a:endParaRPr>
          </a:p>
        </p:txBody>
      </p:sp>
      <p:sp>
        <p:nvSpPr>
          <p:cNvPr id="13" name="Shape 8"/>
          <p:cNvSpPr/>
          <p:nvPr/>
        </p:nvSpPr>
        <p:spPr>
          <a:xfrm>
            <a:off x="6217920" y="25146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5EDF3"/>
          </a:solidFill>
          <a:ln w="12700">
            <a:solidFill>
              <a:srgbClr val="C9AAB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679192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09360" y="31729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309360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com perguntas de negócio</a:t>
            </a:r>
            <a:endParaRPr lang="en-US" sz="1100" b="1" dirty="0">
              <a:solidFill>
                <a:srgbClr val="2D1F2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Guiding Questions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de negócio que guiaram a análise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987552"/>
          </a:xfrm>
          <a:prstGeom prst="roundRect">
            <a:avLst>
              <a:gd name="adj" fmla="val 9259"/>
            </a:avLst>
          </a:prstGeom>
          <a:solidFill>
            <a:srgbClr val="F5EDF3"/>
          </a:solidFill>
          <a:ln w="12700">
            <a:solidFill>
              <a:srgbClr val="C9AAB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71500" y="1476756"/>
            <a:ext cx="795528" cy="795528"/>
          </a:xfrm>
          <a:prstGeom prst="ellipse">
            <a:avLst/>
          </a:prstGeom>
          <a:solidFill>
            <a:srgbClr val="8E6080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91056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4533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valor total dos gastos?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417320"/>
            <a:ext cx="3931920" cy="987552"/>
          </a:xfrm>
          <a:prstGeom prst="roundRect">
            <a:avLst>
              <a:gd name="adj" fmla="val 9259"/>
            </a:avLst>
          </a:prstGeom>
          <a:solidFill>
            <a:srgbClr val="F5EDF3"/>
          </a:solidFill>
          <a:ln w="12700">
            <a:solidFill>
              <a:srgbClr val="C9AAB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4823460" y="1476756"/>
            <a:ext cx="795528" cy="795528"/>
          </a:xfrm>
          <a:prstGeom prst="ellipse">
            <a:avLst/>
          </a:prstGeom>
          <a:solidFill>
            <a:srgbClr val="8E6080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91056"/>
            <a:ext cx="566928" cy="566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60720" y="154533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categoria possui o maior gasto?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2920" y="2587752"/>
            <a:ext cx="3931920" cy="987552"/>
          </a:xfrm>
          <a:prstGeom prst="roundRect">
            <a:avLst>
              <a:gd name="adj" fmla="val 9259"/>
            </a:avLst>
          </a:prstGeom>
          <a:solidFill>
            <a:srgbClr val="F5EDF3"/>
          </a:solidFill>
          <a:ln w="12700">
            <a:solidFill>
              <a:srgbClr val="C9AAB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571500" y="2647188"/>
            <a:ext cx="795528" cy="795528"/>
          </a:xfrm>
          <a:prstGeom prst="ellipse">
            <a:avLst/>
          </a:prstGeom>
          <a:solidFill>
            <a:srgbClr val="8E6080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761488"/>
            <a:ext cx="566928" cy="5669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27157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categoria possui o menor gasto?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754880" y="2587752"/>
            <a:ext cx="3931920" cy="987552"/>
          </a:xfrm>
          <a:prstGeom prst="roundRect">
            <a:avLst>
              <a:gd name="adj" fmla="val 9259"/>
            </a:avLst>
          </a:prstGeom>
          <a:solidFill>
            <a:srgbClr val="F5EDF3"/>
          </a:solidFill>
          <a:ln w="12700">
            <a:solidFill>
              <a:srgbClr val="C9AAB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4823460" y="2647188"/>
            <a:ext cx="795528" cy="795528"/>
          </a:xfrm>
          <a:prstGeom prst="ellipse">
            <a:avLst/>
          </a:prstGeom>
          <a:solidFill>
            <a:srgbClr val="8E6080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761488"/>
            <a:ext cx="566928" cy="5669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60720" y="27157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média de gastos por categoria?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02920" y="3758184"/>
            <a:ext cx="3931920" cy="987552"/>
          </a:xfrm>
          <a:prstGeom prst="roundRect">
            <a:avLst>
              <a:gd name="adj" fmla="val 9259"/>
            </a:avLst>
          </a:prstGeom>
          <a:solidFill>
            <a:srgbClr val="F5EDF3"/>
          </a:solidFill>
          <a:ln w="12700">
            <a:solidFill>
              <a:srgbClr val="C9AAB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5"/>
          <p:cNvSpPr/>
          <p:nvPr/>
        </p:nvSpPr>
        <p:spPr>
          <a:xfrm>
            <a:off x="571500" y="3817620"/>
            <a:ext cx="795528" cy="795528"/>
          </a:xfrm>
          <a:prstGeom prst="ellipse">
            <a:avLst/>
          </a:prstGeom>
          <a:solidFill>
            <a:srgbClr val="8E6080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931920"/>
            <a:ext cx="566928" cy="5669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3886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gastos acima da média geral?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754880" y="3758184"/>
            <a:ext cx="3931920" cy="987552"/>
          </a:xfrm>
          <a:prstGeom prst="roundRect">
            <a:avLst>
              <a:gd name="adj" fmla="val 9259"/>
            </a:avLst>
          </a:prstGeom>
          <a:solidFill>
            <a:srgbClr val="F5EDF3"/>
          </a:solidFill>
          <a:ln w="12700">
            <a:solidFill>
              <a:srgbClr val="C9AAB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8"/>
          <p:cNvSpPr/>
          <p:nvPr/>
        </p:nvSpPr>
        <p:spPr>
          <a:xfrm>
            <a:off x="4823460" y="3817620"/>
            <a:ext cx="795528" cy="795528"/>
          </a:xfrm>
          <a:prstGeom prst="ellipse">
            <a:avLst/>
          </a:prstGeom>
          <a:solidFill>
            <a:srgbClr val="8E6080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931920"/>
            <a:ext cx="566928" cy="56692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760720" y="3886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categoria possui mais registros?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1F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8E6080">
              <a:alpha val="35000"/>
            </a:srgbClr>
          </a:solidFill>
          <a:ln w="12700">
            <a:solidFill>
              <a:srgbClr val="8E608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94360" y="411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Utilizadas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34340" y="1211580"/>
            <a:ext cx="777240" cy="777240"/>
          </a:xfrm>
          <a:prstGeom prst="ellipse">
            <a:avLst/>
          </a:prstGeom>
          <a:solidFill>
            <a:srgbClr val="8E6080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280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16184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relacional open-source, robusto e amplamente utilizado.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" y="2400300"/>
            <a:ext cx="777240" cy="777240"/>
          </a:xfrm>
          <a:prstGeom prst="ellipse">
            <a:avLst/>
          </a:prstGeom>
          <a:solidFill>
            <a:srgbClr val="8E6080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146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pgAdmin 4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28072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gráfica oficial para gerenciar e consultar o PostgreSQL.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4340" y="3589020"/>
            <a:ext cx="777240" cy="777240"/>
          </a:xfrm>
          <a:prstGeom prst="ellipse">
            <a:avLst/>
          </a:prstGeom>
          <a:solidFill>
            <a:srgbClr val="8E6080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033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657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08760" y="39959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consulta utilizada para criar, popular e analisar os dados.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Dados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tabelas com relacionamento via chave estrangeira (FK)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2926080" cy="2377440"/>
          </a:xfrm>
          <a:prstGeom prst="roundRect">
            <a:avLst>
              <a:gd name="adj" fmla="val 3846"/>
            </a:avLst>
          </a:prstGeom>
          <a:solidFill>
            <a:srgbClr val="F5EDF3"/>
          </a:solidFill>
          <a:ln w="1905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6420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64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E6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2240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(SERIAL, PK)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2743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r>
              <a:rPr lang="en-US" sz="130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(VARCHAR 50)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977640" y="2377440"/>
            <a:ext cx="1188720" cy="411480"/>
          </a:xfrm>
          <a:prstGeom prst="rightArrow">
            <a:avLst/>
          </a:prstGeom>
          <a:solidFill>
            <a:srgbClr val="8E6080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06908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03520" y="150876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F5EDF3"/>
          </a:solidFill>
          <a:ln w="1905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66420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97880" y="16642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E6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despesas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394960" y="22402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(SERIAL, PK)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394960" y="2697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(DATE)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394960" y="31546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descricao</a:t>
            </a:r>
            <a:r>
              <a:rPr lang="en-US" sz="125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(VARCHAR 150)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394960" y="36118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 (NUMERIC 10,2)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394960" y="4069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categoria_id</a:t>
            </a:r>
            <a:r>
              <a:rPr lang="en-US" sz="125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(FK)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1F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3474720"/>
            <a:ext cx="2377440" cy="2377440"/>
          </a:xfrm>
          <a:prstGeom prst="ellipse">
            <a:avLst/>
          </a:prstGeom>
          <a:solidFill>
            <a:srgbClr val="8E6080">
              <a:alpha val="35000"/>
            </a:srgbClr>
          </a:solidFill>
          <a:ln w="12700">
            <a:solidFill>
              <a:srgbClr val="8E608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Consultas em Ação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com dados fictícios de teste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total dos gastos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196596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241A22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77240" y="20848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D9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SUM(valor) AS valor_total_gastos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D9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despesas;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0" y="1702191"/>
            <a:ext cx="2880360" cy="1417320"/>
          </a:xfrm>
          <a:prstGeom prst="roundRect">
            <a:avLst>
              <a:gd name="adj" fmla="val 7742"/>
            </a:avLst>
          </a:prstGeom>
          <a:solidFill>
            <a:srgbClr val="8E6080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669280" y="1930791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R$ 4.770,70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669280" y="2616591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valor_total_gastos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632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3444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com maior gasto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94360" y="361188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241A22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777240" y="370332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D9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c.nome, SUM(d.valor) AS total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D9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despesas d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D9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categorias c ON c.id = d.categoria_id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D9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c.nome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D9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 DESC LIMIT 1;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669280" y="3520440"/>
            <a:ext cx="2880360" cy="1417320"/>
          </a:xfrm>
          <a:prstGeom prst="roundRect">
            <a:avLst>
              <a:gd name="adj" fmla="val 7742"/>
            </a:avLst>
          </a:prstGeom>
          <a:solidFill>
            <a:srgbClr val="8E6080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/>
          <p:nvPr/>
        </p:nvSpPr>
        <p:spPr>
          <a:xfrm>
            <a:off x="5669280" y="37033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5669280" y="4251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R$ 1.770,00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Consultas em Ação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por categoria e gastos acima da média geral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80060" y="1257300"/>
            <a:ext cx="685800" cy="685800"/>
          </a:xfrm>
          <a:prstGeom prst="ellipse">
            <a:avLst/>
          </a:prstGeom>
          <a:solidFill>
            <a:srgbClr val="8E6080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4765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1450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gastos por categoria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94360" y="1965960"/>
            <a:ext cx="7955280" cy="868680"/>
          </a:xfrm>
          <a:prstGeom prst="roundRect">
            <a:avLst>
              <a:gd name="adj" fmla="val 8421"/>
            </a:avLst>
          </a:prstGeom>
          <a:solidFill>
            <a:srgbClr val="2D1F29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D9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c.nome, ROUND(AVG(d.valor), 2) AS media FROM despesas d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D9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categorias c ON c.id = d.categoria_id GROUP BY c.nome ORDER BY media DESC;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4360" y="29718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EDF3"/>
          </a:solidFill>
          <a:ln w="12700">
            <a:solidFill>
              <a:srgbClr val="C9AAB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9436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E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Moradia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R$ 590,00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606040" y="29718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EDF3"/>
          </a:solidFill>
          <a:ln w="12700">
            <a:solidFill>
              <a:srgbClr val="C9AAB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260604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E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Alimentação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606040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R$ 490,17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17720" y="29718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EDF3"/>
          </a:solidFill>
          <a:ln w="12700">
            <a:solidFill>
              <a:srgbClr val="C9AAB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461772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E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17720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R$ 231,77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29400" y="29718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EDF3"/>
          </a:solidFill>
          <a:ln w="12700">
            <a:solidFill>
              <a:srgbClr val="C9AAB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662940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E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629400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R$ 49,95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80060" y="3771900"/>
            <a:ext cx="685800" cy="685800"/>
          </a:xfrm>
          <a:prstGeom prst="ellipse">
            <a:avLst/>
          </a:prstGeom>
          <a:solidFill>
            <a:srgbClr val="8E6080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886200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234440" y="39502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acima da </a:t>
            </a:r>
            <a:r>
              <a:rPr lang="en-US" sz="1500" b="1" dirty="0" err="1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r>
              <a:rPr lang="en-US" sz="1500" b="1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 smtClean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594360" y="4480560"/>
            <a:ext cx="7955280" cy="502920"/>
          </a:xfrm>
          <a:prstGeom prst="roundRect">
            <a:avLst>
              <a:gd name="adj" fmla="val 14545"/>
            </a:avLst>
          </a:prstGeom>
          <a:solidFill>
            <a:srgbClr val="F5EDF3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1"/>
          <p:cNvSpPr/>
          <p:nvPr/>
        </p:nvSpPr>
        <p:spPr>
          <a:xfrm>
            <a:off x="777240" y="44805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150" dirty="0" smtClean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lançamentos acima da média  →  </a:t>
            </a:r>
            <a:r>
              <a:rPr lang="en-US" sz="1150" dirty="0" err="1" smtClean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Supermercado</a:t>
            </a:r>
            <a:r>
              <a:rPr lang="en-US" sz="1150" dirty="0" smtClean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2D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(R$ 700) · Supermercado (R$ 650) · Manutenção do carro (R$ 400)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1F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926080" cy="2926080"/>
          </a:xfrm>
          <a:prstGeom prst="ellipse">
            <a:avLst/>
          </a:prstGeom>
          <a:solidFill>
            <a:srgbClr val="8E6080">
              <a:alpha val="40000"/>
            </a:srgbClr>
          </a:solidFill>
          <a:ln w="12700">
            <a:solidFill>
              <a:srgbClr val="8E60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dos Dados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obtidos com os dados fictícios de exemplo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8E6080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R$ 4.770,70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gastos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141732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8E6080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063240" y="1554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06324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com maior gasto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R$ 1.770,00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32120" y="141732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8E6080"/>
          </a:solidFill>
          <a:ln w="12700">
            <a:solidFill>
              <a:srgbClr val="8E6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532120" y="1554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Lazer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com menor gasto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R$ 99,90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71800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34440" y="29443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geral: R$ 318,05 por lançamento</a:t>
            </a:r>
            <a:endParaRPr lang="en-US" sz="13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593592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34440" y="3566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lançamentos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média geral</a:t>
            </a:r>
            <a:endParaRPr lang="en-US" sz="13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215384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34440" y="41879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Alimentação e Transporte empatam em nº de registros com Moradia (3 cada)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1F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097280"/>
            <a:ext cx="2743200" cy="2743200"/>
          </a:xfrm>
          <a:prstGeom prst="ellipse">
            <a:avLst/>
          </a:prstGeom>
          <a:solidFill>
            <a:srgbClr val="8E6080">
              <a:alpha val="30000"/>
            </a:srgbClr>
          </a:solidFill>
          <a:ln w="12700">
            <a:solidFill>
              <a:srgbClr val="8E60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9260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429</Words>
  <Application>Microsoft Office PowerPoint</Application>
  <PresentationFormat>Apresentação na tela (16:9)</PresentationFormat>
  <Paragraphs>91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SQC1</cp:lastModifiedBy>
  <cp:revision>3</cp:revision>
  <dcterms:created xsi:type="dcterms:W3CDTF">2026-07-15T03:01:11Z</dcterms:created>
  <dcterms:modified xsi:type="dcterms:W3CDTF">2026-07-15T13:39:11Z</dcterms:modified>
</cp:coreProperties>
</file>