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1F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68936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1F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097280"/>
            <a:ext cx="4114800" cy="4114800"/>
          </a:xfrm>
          <a:prstGeom prst="ellipse">
            <a:avLst/>
          </a:prstGeom>
          <a:solidFill>
            <a:srgbClr val="8E6080">
              <a:alpha val="40000"/>
            </a:srgbClr>
          </a:solidFill>
          <a:ln w="12700">
            <a:solidFill>
              <a:srgbClr val="8E608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-731520" y="3657600"/>
            <a:ext cx="2286000" cy="2286000"/>
          </a:xfrm>
          <a:prstGeom prst="ellipse">
            <a:avLst/>
          </a:prstGeom>
          <a:solidFill>
            <a:srgbClr val="8E6080">
              <a:alpha val="30000"/>
            </a:srgbClr>
          </a:solidFill>
          <a:ln w="12700">
            <a:solidFill>
              <a:srgbClr val="8E608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7160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3317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 de Controle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64008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Gastos Pessoais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640080" y="37033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A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Full Stack 5.0  ·  Gabriel Daudt, Nicolas Moreira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2D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Desafio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457200"/>
            <a:ext cx="1645920" cy="1645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118872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Registrar, organizar, analisar e consultar dados de gastos pessoais de forma eficiente ao longo do tempo.</a:t>
            </a: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548640" y="2514600"/>
            <a:ext cx="2560320" cy="1737360"/>
          </a:xfrm>
          <a:prstGeom prst="roundRect">
            <a:avLst>
              <a:gd name="adj" fmla="val 6316"/>
            </a:avLst>
          </a:prstGeom>
          <a:solidFill>
            <a:srgbClr val="F5EDF3"/>
          </a:solidFill>
          <a:ln w="12700">
            <a:solidFill>
              <a:srgbClr val="C9AAB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679192"/>
            <a:ext cx="411480" cy="411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0080" y="31729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dos Dados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640080" y="3520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 conclusões extraídas do banco</a:t>
            </a:r>
            <a:endParaRPr lang="en-US" sz="1100" b="1" dirty="0">
              <a:solidFill>
                <a:srgbClr val="2D1F29"/>
              </a:solidFill>
            </a:endParaRPr>
          </a:p>
        </p:txBody>
      </p:sp>
      <p:sp>
        <p:nvSpPr>
          <p:cNvPr id="9" name="Shape 5"/>
          <p:cNvSpPr/>
          <p:nvPr/>
        </p:nvSpPr>
        <p:spPr>
          <a:xfrm>
            <a:off x="3383280" y="2514600"/>
            <a:ext cx="2560320" cy="1737360"/>
          </a:xfrm>
          <a:prstGeom prst="roundRect">
            <a:avLst>
              <a:gd name="adj" fmla="val 6316"/>
            </a:avLst>
          </a:prstGeom>
          <a:solidFill>
            <a:srgbClr val="F5EDF3"/>
          </a:solidFill>
          <a:ln w="12700">
            <a:solidFill>
              <a:srgbClr val="C9AAB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0440" y="2679192"/>
            <a:ext cx="411480" cy="4114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474720" y="31729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Procedimentos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3474720" y="3520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 técnico com SQL</a:t>
            </a:r>
            <a:endParaRPr lang="en-US" sz="1100" b="1" dirty="0">
              <a:solidFill>
                <a:srgbClr val="2D1F29"/>
              </a:solidFill>
            </a:endParaRPr>
          </a:p>
        </p:txBody>
      </p:sp>
      <p:sp>
        <p:nvSpPr>
          <p:cNvPr id="13" name="Shape 8"/>
          <p:cNvSpPr/>
          <p:nvPr/>
        </p:nvSpPr>
        <p:spPr>
          <a:xfrm>
            <a:off x="6217920" y="2514600"/>
            <a:ext cx="2560320" cy="1737360"/>
          </a:xfrm>
          <a:prstGeom prst="roundRect">
            <a:avLst>
              <a:gd name="adj" fmla="val 6316"/>
            </a:avLst>
          </a:prstGeom>
          <a:solidFill>
            <a:srgbClr val="F5EDF3"/>
          </a:solidFill>
          <a:ln w="12700">
            <a:solidFill>
              <a:srgbClr val="C9AAB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2679192"/>
            <a:ext cx="411480" cy="41148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309360" y="31729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Guiding Questions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6309360" y="3520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com perguntas de negócio</a:t>
            </a:r>
            <a:endParaRPr lang="en-US" sz="1100" b="1" dirty="0">
              <a:solidFill>
                <a:srgbClr val="2D1F29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D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Guiding Questions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A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 de negócio que guiaram a análise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931920" cy="987552"/>
          </a:xfrm>
          <a:prstGeom prst="roundRect">
            <a:avLst>
              <a:gd name="adj" fmla="val 9259"/>
            </a:avLst>
          </a:prstGeom>
          <a:solidFill>
            <a:srgbClr val="F5EDF3"/>
          </a:solidFill>
          <a:ln w="12700">
            <a:solidFill>
              <a:srgbClr val="C9AAB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571500" y="1476756"/>
            <a:ext cx="795528" cy="795528"/>
          </a:xfrm>
          <a:prstGeom prst="ellipse">
            <a:avLst/>
          </a:prstGeom>
          <a:solidFill>
            <a:srgbClr val="8E6080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91056"/>
            <a:ext cx="566928" cy="5669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545336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é o valor total dos gastos?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754880" y="1417320"/>
            <a:ext cx="3931920" cy="987552"/>
          </a:xfrm>
          <a:prstGeom prst="roundRect">
            <a:avLst>
              <a:gd name="adj" fmla="val 9259"/>
            </a:avLst>
          </a:prstGeom>
          <a:solidFill>
            <a:srgbClr val="F5EDF3"/>
          </a:solidFill>
          <a:ln w="12700">
            <a:solidFill>
              <a:srgbClr val="C9AAB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6"/>
          <p:cNvSpPr/>
          <p:nvPr/>
        </p:nvSpPr>
        <p:spPr>
          <a:xfrm>
            <a:off x="4823460" y="1476756"/>
            <a:ext cx="795528" cy="795528"/>
          </a:xfrm>
          <a:prstGeom prst="ellipse">
            <a:avLst/>
          </a:prstGeom>
          <a:solidFill>
            <a:srgbClr val="8E6080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591056"/>
            <a:ext cx="566928" cy="56692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760720" y="1545336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categoria possui o maior gasto?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02920" y="2587752"/>
            <a:ext cx="3931920" cy="987552"/>
          </a:xfrm>
          <a:prstGeom prst="roundRect">
            <a:avLst>
              <a:gd name="adj" fmla="val 9259"/>
            </a:avLst>
          </a:prstGeom>
          <a:solidFill>
            <a:srgbClr val="F5EDF3"/>
          </a:solidFill>
          <a:ln w="12700">
            <a:solidFill>
              <a:srgbClr val="C9AAB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Shape 9"/>
          <p:cNvSpPr/>
          <p:nvPr/>
        </p:nvSpPr>
        <p:spPr>
          <a:xfrm>
            <a:off x="571500" y="2647188"/>
            <a:ext cx="795528" cy="795528"/>
          </a:xfrm>
          <a:prstGeom prst="ellipse">
            <a:avLst/>
          </a:prstGeom>
          <a:solidFill>
            <a:srgbClr val="8E6080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761488"/>
            <a:ext cx="566928" cy="56692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08760" y="271576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categoria possui o menor gasto?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754880" y="2587752"/>
            <a:ext cx="3931920" cy="987552"/>
          </a:xfrm>
          <a:prstGeom prst="roundRect">
            <a:avLst>
              <a:gd name="adj" fmla="val 9259"/>
            </a:avLst>
          </a:prstGeom>
          <a:solidFill>
            <a:srgbClr val="F5EDF3"/>
          </a:solidFill>
          <a:ln w="12700">
            <a:solidFill>
              <a:srgbClr val="C9AAB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12"/>
          <p:cNvSpPr/>
          <p:nvPr/>
        </p:nvSpPr>
        <p:spPr>
          <a:xfrm>
            <a:off x="4823460" y="2647188"/>
            <a:ext cx="795528" cy="795528"/>
          </a:xfrm>
          <a:prstGeom prst="ellipse">
            <a:avLst/>
          </a:prstGeom>
          <a:solidFill>
            <a:srgbClr val="8E6080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2761488"/>
            <a:ext cx="566928" cy="56692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760720" y="271576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é a média de gastos por categoria?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502920" y="3758184"/>
            <a:ext cx="3931920" cy="987552"/>
          </a:xfrm>
          <a:prstGeom prst="roundRect">
            <a:avLst>
              <a:gd name="adj" fmla="val 9259"/>
            </a:avLst>
          </a:prstGeom>
          <a:solidFill>
            <a:srgbClr val="F5EDF3"/>
          </a:solidFill>
          <a:ln w="12700">
            <a:solidFill>
              <a:srgbClr val="C9AAB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5"/>
          <p:cNvSpPr/>
          <p:nvPr/>
        </p:nvSpPr>
        <p:spPr>
          <a:xfrm>
            <a:off x="571500" y="3817620"/>
            <a:ext cx="795528" cy="795528"/>
          </a:xfrm>
          <a:prstGeom prst="ellipse">
            <a:avLst/>
          </a:prstGeom>
          <a:solidFill>
            <a:srgbClr val="8E6080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931920"/>
            <a:ext cx="566928" cy="56692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508760" y="38862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Existem gastos acima da média geral?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4754880" y="3758184"/>
            <a:ext cx="3931920" cy="987552"/>
          </a:xfrm>
          <a:prstGeom prst="roundRect">
            <a:avLst>
              <a:gd name="adj" fmla="val 9259"/>
            </a:avLst>
          </a:prstGeom>
          <a:solidFill>
            <a:srgbClr val="F5EDF3"/>
          </a:solidFill>
          <a:ln w="12700">
            <a:solidFill>
              <a:srgbClr val="C9AAB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Shape 18"/>
          <p:cNvSpPr/>
          <p:nvPr/>
        </p:nvSpPr>
        <p:spPr>
          <a:xfrm>
            <a:off x="4823460" y="3817620"/>
            <a:ext cx="795528" cy="795528"/>
          </a:xfrm>
          <a:prstGeom prst="ellipse">
            <a:avLst/>
          </a:prstGeom>
          <a:solidFill>
            <a:srgbClr val="8E6080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37760" y="3931920"/>
            <a:ext cx="566928" cy="566928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5760720" y="38862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categoria possui mais registros?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D1F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57200" y="-457200"/>
            <a:ext cx="2743200" cy="2743200"/>
          </a:xfrm>
          <a:prstGeom prst="ellipse">
            <a:avLst/>
          </a:prstGeom>
          <a:solidFill>
            <a:srgbClr val="8E6080">
              <a:alpha val="35000"/>
            </a:srgbClr>
          </a:solidFill>
          <a:ln w="12700">
            <a:solidFill>
              <a:srgbClr val="8E608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594360" y="411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Ferramentas Utilizadas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34340" y="1211580"/>
            <a:ext cx="777240" cy="777240"/>
          </a:xfrm>
          <a:prstGeom prst="ellipse">
            <a:avLst/>
          </a:prstGeom>
          <a:solidFill>
            <a:srgbClr val="8E6080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28016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508760" y="161848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A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relacional open-source, robusto e amplamente utilizado.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34340" y="2400300"/>
            <a:ext cx="777240" cy="777240"/>
          </a:xfrm>
          <a:prstGeom prst="ellipse">
            <a:avLst/>
          </a:prstGeom>
          <a:solidFill>
            <a:srgbClr val="8E6080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514600"/>
            <a:ext cx="548640" cy="5486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46888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pgAdmin 4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508760" y="28072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A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gráfica oficial para gerenciar e consultar o PostgreSQL.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34340" y="3589020"/>
            <a:ext cx="777240" cy="777240"/>
          </a:xfrm>
          <a:prstGeom prst="ellipse">
            <a:avLst/>
          </a:prstGeom>
          <a:solidFill>
            <a:srgbClr val="8E6080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703320"/>
            <a:ext cx="548640" cy="54864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36576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508760" y="399592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A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Linguagem de consulta utilizada para criar, popular e analisar os dados.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D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de Dados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A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tabelas com relacionamento via chave estrangeira (FK)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1508760"/>
            <a:ext cx="2926080" cy="2377440"/>
          </a:xfrm>
          <a:prstGeom prst="roundRect">
            <a:avLst>
              <a:gd name="adj" fmla="val 3846"/>
            </a:avLst>
          </a:prstGeom>
          <a:solidFill>
            <a:srgbClr val="F5EDF3"/>
          </a:solidFill>
          <a:ln w="1905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1664208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66420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E60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categorias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005840" y="22402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(SERIAL, PK)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005840" y="27432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</a:t>
            </a:r>
            <a:r>
              <a:rPr lang="en-US" sz="130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(VARCHAR 50)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977640" y="2377440"/>
            <a:ext cx="1188720" cy="411480"/>
          </a:xfrm>
          <a:prstGeom prst="rightArrow">
            <a:avLst/>
          </a:prstGeom>
          <a:solidFill>
            <a:srgbClr val="8E6080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4069080" y="2834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E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303520" y="1508760"/>
            <a:ext cx="3291840" cy="3200400"/>
          </a:xfrm>
          <a:prstGeom prst="roundRect">
            <a:avLst>
              <a:gd name="adj" fmla="val 2857"/>
            </a:avLst>
          </a:prstGeom>
          <a:solidFill>
            <a:srgbClr val="F5EDF3"/>
          </a:solidFill>
          <a:ln w="1905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1664208"/>
            <a:ext cx="384048" cy="38404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897880" y="166420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E60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despesas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5394960" y="22402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(SERIAL, PK)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5394960" y="26974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 (DATE)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5394960" y="31546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 err="1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descricao</a:t>
            </a:r>
            <a:r>
              <a:rPr lang="en-US" sz="125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(VARCHAR 150)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5394960" y="36118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 (NUMERIC 10,2)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394960" y="40690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 err="1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categoria_id</a:t>
            </a:r>
            <a:r>
              <a:rPr lang="en-US" sz="125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(FK)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D1F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3474720"/>
            <a:ext cx="2377440" cy="2377440"/>
          </a:xfrm>
          <a:prstGeom prst="ellipse">
            <a:avLst/>
          </a:prstGeom>
          <a:solidFill>
            <a:srgbClr val="8E6080">
              <a:alpha val="35000"/>
            </a:srgbClr>
          </a:solidFill>
          <a:ln w="12700">
            <a:solidFill>
              <a:srgbClr val="8E608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59436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Consultas em Ação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A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com dados fictícios de teste</a:t>
            </a:r>
            <a:endParaRPr lang="en-US" sz="12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4173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463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total dos gastos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94360" y="1965960"/>
            <a:ext cx="4846320" cy="868680"/>
          </a:xfrm>
          <a:prstGeom prst="roundRect">
            <a:avLst>
              <a:gd name="adj" fmla="val 8421"/>
            </a:avLst>
          </a:prstGeom>
          <a:solidFill>
            <a:srgbClr val="241A22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777240" y="2084832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E7D9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SUM(valor) AS valor_total_gastos</a:t>
            </a:r>
            <a:endParaRPr lang="en-US" sz="115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E7D9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despesas;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0" y="1702191"/>
            <a:ext cx="2880360" cy="1417320"/>
          </a:xfrm>
          <a:prstGeom prst="roundRect">
            <a:avLst>
              <a:gd name="adj" fmla="val 7742"/>
            </a:avLst>
          </a:prstGeom>
          <a:solidFill>
            <a:srgbClr val="8E6080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5669280" y="1930791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R$ 4.770,70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5669280" y="2616591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valor_total_gastos</a:t>
            </a:r>
            <a:endParaRPr lang="en-US" sz="110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06324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234440" y="3108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 com maior gasto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594360" y="3611880"/>
            <a:ext cx="4846320" cy="1234440"/>
          </a:xfrm>
          <a:prstGeom prst="roundRect">
            <a:avLst>
              <a:gd name="adj" fmla="val 5926"/>
            </a:avLst>
          </a:prstGeom>
          <a:solidFill>
            <a:srgbClr val="241A22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3"/>
          <p:cNvSpPr/>
          <p:nvPr/>
        </p:nvSpPr>
        <p:spPr>
          <a:xfrm>
            <a:off x="777240" y="370332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dirty="0">
                <a:solidFill>
                  <a:srgbClr val="E7D9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c.nome, SUM(d.valor) AS total</a:t>
            </a:r>
            <a:endParaRPr lang="en-US" sz="100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000" dirty="0">
                <a:solidFill>
                  <a:srgbClr val="E7D9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despesas d</a:t>
            </a:r>
            <a:endParaRPr lang="en-US" sz="100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000" dirty="0">
                <a:solidFill>
                  <a:srgbClr val="E7D9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categorias c ON c.id = d.categoria_id</a:t>
            </a:r>
            <a:endParaRPr lang="en-US" sz="100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000" dirty="0">
                <a:solidFill>
                  <a:srgbClr val="E7D9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c.nome</a:t>
            </a:r>
            <a:endParaRPr lang="en-US" sz="100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000" dirty="0">
                <a:solidFill>
                  <a:srgbClr val="E7D9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total DESC LIMIT 1;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669280" y="3520440"/>
            <a:ext cx="2880360" cy="1417320"/>
          </a:xfrm>
          <a:prstGeom prst="roundRect">
            <a:avLst>
              <a:gd name="adj" fmla="val 7742"/>
            </a:avLst>
          </a:prstGeom>
          <a:solidFill>
            <a:srgbClr val="8E6080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5"/>
          <p:cNvSpPr/>
          <p:nvPr/>
        </p:nvSpPr>
        <p:spPr>
          <a:xfrm>
            <a:off x="5669280" y="37033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Moradia</a:t>
            </a:r>
            <a:endParaRPr lang="en-US" sz="2000" dirty="0"/>
          </a:p>
        </p:txBody>
      </p:sp>
      <p:sp>
        <p:nvSpPr>
          <p:cNvPr id="20" name="Text 16"/>
          <p:cNvSpPr/>
          <p:nvPr/>
        </p:nvSpPr>
        <p:spPr>
          <a:xfrm>
            <a:off x="5669280" y="425196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R$ 1.770,00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D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Consultas em Ação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A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 por categoria e gastos acima da média geral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80060" y="1257300"/>
            <a:ext cx="685800" cy="685800"/>
          </a:xfrm>
          <a:prstGeom prst="ellipse">
            <a:avLst/>
          </a:prstGeom>
          <a:solidFill>
            <a:srgbClr val="8E6080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374765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41450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 de gastos por categoria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94360" y="1965960"/>
            <a:ext cx="7955280" cy="868680"/>
          </a:xfrm>
          <a:prstGeom prst="roundRect">
            <a:avLst>
              <a:gd name="adj" fmla="val 8421"/>
            </a:avLst>
          </a:prstGeom>
          <a:solidFill>
            <a:srgbClr val="2D1F29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777240" y="210312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E7D9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c.nome, ROUND(AVG(d.valor), 2) AS media FROM despesas d</a:t>
            </a:r>
            <a:endParaRPr lang="en-US" sz="115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E7D9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categorias c ON c.id = d.categoria_id GROUP BY c.nome ORDER BY media DESC;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94360" y="29718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5EDF3"/>
          </a:solidFill>
          <a:ln w="12700">
            <a:solidFill>
              <a:srgbClr val="C9AAB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594360" y="30358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Moradia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94360" y="3310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R$ 590,00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2606040" y="29718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5EDF3"/>
          </a:solidFill>
          <a:ln w="12700">
            <a:solidFill>
              <a:srgbClr val="C9AAB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2606040" y="30358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Alimentação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2606040" y="3310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R$ 490,17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617720" y="29718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5EDF3"/>
          </a:solidFill>
          <a:ln w="12700">
            <a:solidFill>
              <a:srgbClr val="C9AAB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4617720" y="30358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617720" y="3310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R$ 231,77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629400" y="29718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5EDF3"/>
          </a:solidFill>
          <a:ln w="12700">
            <a:solidFill>
              <a:srgbClr val="C9AAB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6629400" y="30358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Lazer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629400" y="3310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R$ 49,95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80060" y="3771900"/>
            <a:ext cx="685800" cy="685800"/>
          </a:xfrm>
          <a:prstGeom prst="ellipse">
            <a:avLst/>
          </a:prstGeom>
          <a:solidFill>
            <a:srgbClr val="8E6080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886200"/>
            <a:ext cx="457200" cy="45720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1234440" y="395020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acima da média geral (R$ 318,05)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594360" y="4480560"/>
            <a:ext cx="7955280" cy="502920"/>
          </a:xfrm>
          <a:prstGeom prst="roundRect">
            <a:avLst>
              <a:gd name="adj" fmla="val 14545"/>
            </a:avLst>
          </a:prstGeom>
          <a:solidFill>
            <a:srgbClr val="F5EDF3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1"/>
          <p:cNvSpPr/>
          <p:nvPr/>
        </p:nvSpPr>
        <p:spPr>
          <a:xfrm>
            <a:off x="777240" y="44805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lançamentos acima da média  →  Aluguel (R$ 1.500) · Supermercado (R$ 700) · Supermercado (R$ 650) · Manutenção do carro (R$ 400)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D1F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2926080" cy="2926080"/>
          </a:xfrm>
          <a:prstGeom prst="ellipse">
            <a:avLst/>
          </a:prstGeom>
          <a:solidFill>
            <a:srgbClr val="8E6080">
              <a:alpha val="40000"/>
            </a:srgbClr>
          </a:solidFill>
          <a:ln w="12700">
            <a:solidFill>
              <a:srgbClr val="8E608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59436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Insights dos Dados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960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A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obtidos com os dados fictícios de exemplo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4360" y="1417320"/>
            <a:ext cx="2286000" cy="1280160"/>
          </a:xfrm>
          <a:prstGeom prst="roundRect">
            <a:avLst>
              <a:gd name="adj" fmla="val 8571"/>
            </a:avLst>
          </a:prstGeom>
          <a:solidFill>
            <a:srgbClr val="8E6080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594360" y="15087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R$ 4.770,70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94360" y="2240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 gastos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063240" y="1417320"/>
            <a:ext cx="2286000" cy="1280160"/>
          </a:xfrm>
          <a:prstGeom prst="roundRect">
            <a:avLst>
              <a:gd name="adj" fmla="val 8571"/>
            </a:avLst>
          </a:prstGeom>
          <a:solidFill>
            <a:srgbClr val="8E6080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3063240" y="15544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Moradia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063240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 com maior gasto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R$ 1.770,00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532120" y="1417320"/>
            <a:ext cx="2286000" cy="1280160"/>
          </a:xfrm>
          <a:prstGeom prst="roundRect">
            <a:avLst>
              <a:gd name="adj" fmla="val 8571"/>
            </a:avLst>
          </a:prstGeom>
          <a:solidFill>
            <a:srgbClr val="8E6080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5532120" y="15544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Lazer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532120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 com menor gasto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R$ 99,90</a:t>
            </a:r>
            <a:endParaRPr lang="en-US" sz="1100" dirty="0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971800"/>
            <a:ext cx="384048" cy="38404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234440" y="29443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 geral: R$ 318,05 por lançamento</a:t>
            </a:r>
            <a:endParaRPr lang="en-US" sz="1300" dirty="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593592"/>
            <a:ext cx="384048" cy="384048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234440" y="35661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lançamentos (27%) acima da média geral</a:t>
            </a:r>
            <a:endParaRPr lang="en-US" sz="130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4215384"/>
            <a:ext cx="384048" cy="38404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234440" y="418795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Alimentação e Transporte empatam em nº de registros com Moradia (3 cada)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D1F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0" y="1097280"/>
            <a:ext cx="2743200" cy="2743200"/>
          </a:xfrm>
          <a:prstGeom prst="ellipse">
            <a:avLst/>
          </a:prstGeom>
          <a:solidFill>
            <a:srgbClr val="8E6080">
              <a:alpha val="30000"/>
            </a:srgbClr>
          </a:solidFill>
          <a:ln w="12700">
            <a:solidFill>
              <a:srgbClr val="8E608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292608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1031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Obrigado!</a:t>
            </a:r>
            <a:endParaRPr lang="en-US" sz="4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486</Words>
  <Application>Microsoft Office PowerPoint</Application>
  <PresentationFormat>Apresentação na tela (16:9)</PresentationFormat>
  <Paragraphs>91</Paragraphs>
  <Slides>9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Cambria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Gabriel Ferreira</cp:lastModifiedBy>
  <cp:revision>2</cp:revision>
  <dcterms:created xsi:type="dcterms:W3CDTF">2026-07-15T03:01:11Z</dcterms:created>
  <dcterms:modified xsi:type="dcterms:W3CDTF">2026-07-15T03:13:18Z</dcterms:modified>
</cp:coreProperties>
</file>